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1" r:id="rId4"/>
    <p:sldId id="265" r:id="rId5"/>
    <p:sldId id="262" r:id="rId6"/>
    <p:sldId id="267" r:id="rId7"/>
    <p:sldId id="269" r:id="rId8"/>
    <p:sldId id="268" r:id="rId9"/>
    <p:sldId id="271" r:id="rId10"/>
    <p:sldId id="263" r:id="rId11"/>
    <p:sldId id="273" r:id="rId12"/>
    <p:sldId id="264" r:id="rId13"/>
    <p:sldId id="272" r:id="rId14"/>
    <p:sldId id="270" r:id="rId15"/>
    <p:sldId id="26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D7D"/>
    <a:srgbClr val="CA7035"/>
    <a:srgbClr val="DFB54C"/>
    <a:srgbClr val="2A3341"/>
    <a:srgbClr val="333F50"/>
    <a:srgbClr val="E9544D"/>
    <a:srgbClr val="EC5777"/>
    <a:srgbClr val="FF6F6E"/>
    <a:srgbClr val="E6E6E6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3" autoAdjust="0"/>
    <p:restoredTop sz="89556" autoAdjust="0"/>
  </p:normalViewPr>
  <p:slideViewPr>
    <p:cSldViewPr snapToGrid="0">
      <p:cViewPr varScale="1">
        <p:scale>
          <a:sx n="98" d="100"/>
          <a:sy n="98" d="100"/>
        </p:scale>
        <p:origin x="39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3DB2C-7CB4-4FA5-93CB-46C6CA7DD1A0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0E7EC-25F5-4A50-B385-1F92C6D4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08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373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632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902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916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938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920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681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620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521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780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895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084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955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0E7EC-25F5-4A50-B385-1F92C6D4423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861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739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00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02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0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78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48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02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281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046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81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325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50000"/>
              </a:schemeClr>
            </a:gs>
            <a:gs pos="21000">
              <a:schemeClr val="tx2">
                <a:lumMod val="75000"/>
              </a:schemeClr>
            </a:gs>
            <a:gs pos="40000">
              <a:schemeClr val="tx2">
                <a:lumMod val="75000"/>
              </a:schemeClr>
            </a:gs>
            <a:gs pos="0">
              <a:schemeClr val="tx2">
                <a:lumMod val="75000"/>
              </a:schemeClr>
            </a:gs>
            <a:gs pos="100000">
              <a:schemeClr val="tx2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C2067-56CB-489D-A21E-75DD7EBB4C31}" type="datetimeFigureOut">
              <a:rPr lang="ko-KR" altLang="en-US" smtClean="0"/>
              <a:t>2018-01-10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B8E4A-0E04-4F7B-95EC-CFF95DF1A75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820" y="-99680"/>
            <a:ext cx="2271618" cy="12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9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1.png"/><Relationship Id="rId18" Type="http://schemas.microsoft.com/office/2007/relationships/hdphoto" Target="../media/hdphoto8.wdp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microsoft.com/office/2007/relationships/hdphoto" Target="../media/hdphoto5.wdp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6" Type="http://schemas.microsoft.com/office/2007/relationships/hdphoto" Target="../media/hdphoto7.wdp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9.png"/><Relationship Id="rId14" Type="http://schemas.microsoft.com/office/2007/relationships/hdphoto" Target="../media/hdphoto6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9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microsoft.com/office/2007/relationships/hdphoto" Target="../media/hdphoto10.wdp"/><Relationship Id="rId9" Type="http://schemas.microsoft.com/office/2007/relationships/hdphoto" Target="../media/hdphoto1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0.png"/><Relationship Id="rId7" Type="http://schemas.microsoft.com/office/2007/relationships/hdphoto" Target="../media/hdphoto1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microsoft.com/office/2007/relationships/hdphoto" Target="../media/hdphoto1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3.wdp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4413159" y="4888697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5928085" y="623763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786011" y="53534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818740" y="3357394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797785" y="5802270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2435984" y="2561642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1871341" y="494641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651060" y="5430952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388907" y="2552319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841169" y="-404816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392222" y="6570195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3788405" y="1835471"/>
            <a:ext cx="3909600" cy="39096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867882" y="1804566"/>
            <a:ext cx="3326549" cy="3326549"/>
          </a:xfrm>
          <a:prstGeom prst="rect">
            <a:avLst/>
          </a:prstGeom>
          <a:solidFill>
            <a:srgbClr val="E9544D"/>
          </a:solidFill>
          <a:ln>
            <a:noFill/>
          </a:ln>
          <a:effectLst>
            <a:outerShdw blurRad="241300" dist="38100" dir="5400000" sx="102000" sy="10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284831" y="1118078"/>
            <a:ext cx="3326549" cy="3326549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228600" dist="38100" dir="2700000" sx="102000" sy="102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565960" y="1366688"/>
            <a:ext cx="3326866" cy="3326866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173076" y="2119632"/>
            <a:ext cx="18420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센서와</a:t>
            </a:r>
            <a:endParaRPr lang="en-US" altLang="ko-KR" sz="4000" dirty="0" smtClean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4000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놀아보자</a:t>
            </a:r>
            <a:r>
              <a:rPr lang="en-US" altLang="ko-KR" sz="4000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  <a:endParaRPr lang="en-US" altLang="ko-KR" sz="40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 flipH="1">
            <a:off x="1032429" y="73320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95006" y="5263877"/>
            <a:ext cx="1641780" cy="40011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2017</a:t>
            </a:r>
            <a:r>
              <a:rPr lang="en-US" altLang="ko-KR" sz="200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en-US" altLang="ko-KR" sz="20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</a:t>
            </a:r>
            <a:r>
              <a:rPr lang="en-US" altLang="ko-KR" sz="2000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en-US" altLang="ko-KR" sz="20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</a:t>
            </a:r>
            <a:r>
              <a:rPr lang="en-US" altLang="ko-KR" sz="2000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</a:t>
            </a:r>
            <a:r>
              <a:rPr lang="en-US" altLang="ko-KR" sz="20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 </a:t>
            </a:r>
            <a:endParaRPr lang="ko-KR" altLang="en-US" sz="20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 flipH="1">
            <a:off x="-358969" y="5402920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1767004" y="3272592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07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직선 연결선 58"/>
          <p:cNvCxnSpPr/>
          <p:nvPr/>
        </p:nvCxnSpPr>
        <p:spPr>
          <a:xfrm>
            <a:off x="701152" y="1074058"/>
            <a:ext cx="1104979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8017586" y="32624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294086" y="264397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1305" y="1635099"/>
            <a:ext cx="1041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01.</a:t>
            </a:r>
            <a:endParaRPr lang="ko-KR" altLang="en-US" sz="48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561530" y="2466096"/>
            <a:ext cx="690270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97107" y="1711150"/>
            <a:ext cx="5025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</a:t>
            </a:r>
            <a:r>
              <a:rPr lang="en-US" altLang="ko-KR" sz="40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sz="40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521305" y="2785554"/>
            <a:ext cx="1041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02.</a:t>
            </a:r>
            <a:endParaRPr lang="ko-KR" altLang="en-US" sz="48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4561530" y="3616551"/>
            <a:ext cx="690270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97107" y="2861605"/>
            <a:ext cx="5025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 </a:t>
            </a:r>
            <a:r>
              <a:rPr lang="ko-KR" altLang="en-US" sz="4000" dirty="0" err="1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파헤쳐보기</a:t>
            </a:r>
            <a:endParaRPr lang="en-US" altLang="ko-KR" sz="40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21305" y="4016300"/>
            <a:ext cx="1041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03.</a:t>
            </a:r>
            <a:endParaRPr lang="ko-KR" altLang="en-US" sz="48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52" name="직선 연결선 51"/>
          <p:cNvCxnSpPr/>
          <p:nvPr/>
        </p:nvCxnSpPr>
        <p:spPr>
          <a:xfrm>
            <a:off x="4561530" y="4847297"/>
            <a:ext cx="690270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97107" y="4092351"/>
            <a:ext cx="5025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LCD?</a:t>
            </a:r>
            <a:endParaRPr lang="ko-KR" altLang="en-US" sz="40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521305" y="5165570"/>
            <a:ext cx="1041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04.</a:t>
            </a:r>
            <a:endParaRPr lang="ko-KR" altLang="en-US" sz="48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4561530" y="5996567"/>
            <a:ext cx="690270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97107" y="5241621"/>
            <a:ext cx="5025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센서와 </a:t>
            </a:r>
            <a:r>
              <a:rPr lang="en-US" altLang="ko-KR" sz="40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endParaRPr lang="ko-KR" altLang="en-US" sz="40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4086" y="117163"/>
            <a:ext cx="51501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>
                <a:ln w="38100">
                  <a:noFill/>
                </a:ln>
                <a:solidFill>
                  <a:srgbClr val="FF7D7D"/>
                </a:solidFill>
                <a:effectLst>
                  <a:outerShdw dist="38100" algn="ctr" rotWithShape="0">
                    <a:schemeClr val="bg1"/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CONTENTS</a:t>
            </a:r>
            <a:endParaRPr lang="ko-KR" altLang="en-US" sz="8000" dirty="0">
              <a:ln w="38100">
                <a:noFill/>
              </a:ln>
              <a:solidFill>
                <a:srgbClr val="FF7D7D"/>
              </a:solidFill>
              <a:effectLst>
                <a:outerShdw dist="38100" algn="ctr" rotWithShape="0">
                  <a:schemeClr val="bg1"/>
                </a:outerShdw>
              </a:effectLst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-341433" y="3750465"/>
            <a:ext cx="3263237" cy="3263237"/>
            <a:chOff x="163654" y="3569491"/>
            <a:chExt cx="3263237" cy="3263237"/>
          </a:xfrm>
        </p:grpSpPr>
        <p:sp>
          <p:nvSpPr>
            <p:cNvPr id="2" name="원호 1"/>
            <p:cNvSpPr/>
            <p:nvPr/>
          </p:nvSpPr>
          <p:spPr>
            <a:xfrm rot="1350282">
              <a:off x="163654" y="3569491"/>
              <a:ext cx="3263237" cy="3263237"/>
            </a:xfrm>
            <a:prstGeom prst="arc">
              <a:avLst>
                <a:gd name="adj1" fmla="val 13170766"/>
                <a:gd name="adj2" fmla="val 0"/>
              </a:avLst>
            </a:prstGeom>
            <a:noFill/>
            <a:ln w="76200" cap="rnd">
              <a:solidFill>
                <a:srgbClr val="FF7D7D"/>
              </a:solidFill>
            </a:ln>
            <a:effectLst>
              <a:outerShdw dist="50800" dir="19020000" rotWithShape="0">
                <a:schemeClr val="bg1"/>
              </a:outerShdw>
            </a:effectLst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원호 56"/>
            <p:cNvSpPr/>
            <p:nvPr/>
          </p:nvSpPr>
          <p:spPr>
            <a:xfrm rot="1350282">
              <a:off x="522929" y="3953294"/>
              <a:ext cx="2526021" cy="2526021"/>
            </a:xfrm>
            <a:prstGeom prst="arc">
              <a:avLst>
                <a:gd name="adj1" fmla="val 13170766"/>
                <a:gd name="adj2" fmla="val 0"/>
              </a:avLst>
            </a:prstGeom>
            <a:noFill/>
            <a:ln w="76200" cap="rnd">
              <a:solidFill>
                <a:srgbClr val="FF7D7D"/>
              </a:solidFill>
            </a:ln>
            <a:effectLst>
              <a:outerShdw dist="50800" dir="19020000" rotWithShape="0">
                <a:schemeClr val="bg1"/>
              </a:outerShdw>
            </a:effectLst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원호 57"/>
            <p:cNvSpPr/>
            <p:nvPr/>
          </p:nvSpPr>
          <p:spPr>
            <a:xfrm rot="1350282">
              <a:off x="860584" y="4301385"/>
              <a:ext cx="1829842" cy="1829840"/>
            </a:xfrm>
            <a:prstGeom prst="arc">
              <a:avLst>
                <a:gd name="adj1" fmla="val 13170766"/>
                <a:gd name="adj2" fmla="val 0"/>
              </a:avLst>
            </a:prstGeom>
            <a:noFill/>
            <a:ln w="76200" cap="rnd">
              <a:solidFill>
                <a:srgbClr val="FF7D7D"/>
              </a:solidFill>
            </a:ln>
            <a:effectLst>
              <a:outerShdw dist="50800" dir="19020000" rotWithShape="0">
                <a:schemeClr val="bg1"/>
              </a:outerShdw>
            </a:effectLst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원호 59"/>
            <p:cNvSpPr/>
            <p:nvPr/>
          </p:nvSpPr>
          <p:spPr>
            <a:xfrm rot="1350282">
              <a:off x="1274103" y="4703846"/>
              <a:ext cx="1024920" cy="1024918"/>
            </a:xfrm>
            <a:prstGeom prst="arc">
              <a:avLst>
                <a:gd name="adj1" fmla="val 13170766"/>
                <a:gd name="adj2" fmla="val 0"/>
              </a:avLst>
            </a:prstGeom>
            <a:noFill/>
            <a:ln w="76200" cap="rnd">
              <a:solidFill>
                <a:srgbClr val="FF7D7D"/>
              </a:solidFill>
            </a:ln>
            <a:effectLst>
              <a:outerShdw dist="50800" dir="19020000" rotWithShape="0">
                <a:schemeClr val="bg1"/>
              </a:outerShdw>
            </a:effectLst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타원 3"/>
          <p:cNvSpPr/>
          <p:nvPr/>
        </p:nvSpPr>
        <p:spPr>
          <a:xfrm>
            <a:off x="1205682" y="5130996"/>
            <a:ext cx="336989" cy="336989"/>
          </a:xfrm>
          <a:prstGeom prst="ellipse">
            <a:avLst/>
          </a:prstGeom>
          <a:solidFill>
            <a:srgbClr val="FF7D7D"/>
          </a:solidFill>
          <a:ln>
            <a:noFill/>
          </a:ln>
          <a:effectLst>
            <a:outerShdw dist="31750" dir="19920000" algn="tl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현 60"/>
          <p:cNvSpPr/>
          <p:nvPr/>
        </p:nvSpPr>
        <p:spPr>
          <a:xfrm rot="20576446">
            <a:off x="2219580" y="2451191"/>
            <a:ext cx="720000" cy="720000"/>
          </a:xfrm>
          <a:prstGeom prst="chord">
            <a:avLst>
              <a:gd name="adj1" fmla="val 1371738"/>
              <a:gd name="adj2" fmla="val 12437049"/>
            </a:avLst>
          </a:prstGeom>
          <a:solidFill>
            <a:srgbClr val="FF7D7D"/>
          </a:solidFill>
          <a:ln>
            <a:noFill/>
          </a:ln>
          <a:effectLst>
            <a:outerShdw dist="38100" algn="tl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/>
          <p:nvPr/>
        </p:nvCxnSpPr>
        <p:spPr>
          <a:xfrm>
            <a:off x="904330" y="2510285"/>
            <a:ext cx="3178719" cy="478944"/>
          </a:xfrm>
          <a:prstGeom prst="line">
            <a:avLst/>
          </a:prstGeom>
          <a:ln w="76200" cap="rnd">
            <a:solidFill>
              <a:srgbClr val="FF7D7D"/>
            </a:solidFill>
          </a:ln>
          <a:effectLst>
            <a:outerShdw dist="38100" dir="19860000" algn="tl" rotWithShape="0">
              <a:schemeClr val="bg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flipH="1">
            <a:off x="3012922" y="3071926"/>
            <a:ext cx="81796" cy="571689"/>
            <a:chOff x="2772383" y="1440602"/>
            <a:chExt cx="144000" cy="1006450"/>
          </a:xfrm>
        </p:grpSpPr>
        <p:sp>
          <p:nvSpPr>
            <p:cNvPr id="10" name="타원 9"/>
            <p:cNvSpPr/>
            <p:nvPr/>
          </p:nvSpPr>
          <p:spPr>
            <a:xfrm>
              <a:off x="2772383" y="2303052"/>
              <a:ext cx="144000" cy="144000"/>
            </a:xfrm>
            <a:prstGeom prst="ellipse">
              <a:avLst/>
            </a:prstGeom>
            <a:solidFill>
              <a:srgbClr val="FF7D7D"/>
            </a:solidFill>
            <a:ln>
              <a:noFill/>
            </a:ln>
            <a:effectLst>
              <a:outerShdw dist="25400" dir="18060000" algn="t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2772383" y="1440602"/>
              <a:ext cx="144000" cy="720000"/>
            </a:xfrm>
            <a:prstGeom prst="roundRect">
              <a:avLst/>
            </a:prstGeom>
            <a:solidFill>
              <a:srgbClr val="FF7D7D"/>
            </a:solidFill>
            <a:ln>
              <a:noFill/>
            </a:ln>
            <a:effectLst>
              <a:outerShdw dist="25400" dir="18660000" algn="t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565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5128428" y="2588336"/>
            <a:ext cx="19351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Sensor</a:t>
            </a:r>
            <a:endParaRPr lang="ko-KR" altLang="en-US" sz="4400" dirty="0">
              <a:solidFill>
                <a:schemeClr val="accent2">
                  <a:lumMod val="60000"/>
                  <a:lumOff val="40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18500" y="3739841"/>
            <a:ext cx="6555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‘</a:t>
            </a:r>
            <a:r>
              <a:rPr lang="ko-KR" altLang="en-US" sz="28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감각</a:t>
            </a:r>
            <a:r>
              <a:rPr lang="en-US" altLang="ko-KR" sz="28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’, ‘</a:t>
            </a:r>
            <a:r>
              <a:rPr lang="ko-KR" altLang="en-US" sz="28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느끼다</a:t>
            </a:r>
            <a:r>
              <a:rPr lang="en-US" altLang="ko-KR" sz="28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’ </a:t>
            </a:r>
            <a:r>
              <a:rPr lang="ko-KR" altLang="en-US" sz="28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라는 뜻을 가진 </a:t>
            </a:r>
            <a:r>
              <a:rPr lang="en-US" altLang="ko-KR" sz="28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Sense</a:t>
            </a:r>
            <a:r>
              <a:rPr lang="ko-KR" altLang="en-US" sz="28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에서 유래</a:t>
            </a:r>
            <a:endParaRPr lang="ko-KR" altLang="en-US" sz="28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센서가 뭐지</a:t>
            </a:r>
            <a:r>
              <a:rPr lang="en-US" altLang="ko-KR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sz="45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센서의 정의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046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500186" y="1676238"/>
            <a:ext cx="5203669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무언가를 느끼며</a:t>
            </a:r>
            <a:endParaRPr lang="en-US" altLang="ko-KR" sz="28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28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28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8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느끼고</a:t>
            </a:r>
            <a:endParaRPr lang="en-US" altLang="ko-KR" sz="28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28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28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8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느껴서</a:t>
            </a:r>
            <a:endParaRPr lang="en-US" altLang="ko-KR" sz="28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28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28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8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그것으로부터 </a:t>
            </a:r>
            <a:r>
              <a:rPr lang="ko-KR" altLang="en-US" sz="28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무언가</a:t>
            </a:r>
            <a:r>
              <a:rPr lang="ko-KR" altLang="en-US" sz="28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알아내는 장치</a:t>
            </a:r>
            <a:r>
              <a:rPr lang="en-US" altLang="ko-KR" sz="28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</a:p>
        </p:txBody>
      </p:sp>
      <p:pic>
        <p:nvPicPr>
          <p:cNvPr id="1028" name="Picture 4" descr="필소굿에 대한 이미지 검색결과"/>
          <p:cNvPicPr>
            <a:picLocks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1"/>
          <a:stretch/>
        </p:blipFill>
        <p:spPr bwMode="auto">
          <a:xfrm>
            <a:off x="469711" y="1515024"/>
            <a:ext cx="3780000" cy="378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down.humoruniv.org/hwiparambbs/data/pds/hu_1455248606_314195572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43" y="1773634"/>
            <a:ext cx="4669710" cy="391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느껴버렷에 대한 이미지 검색결과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74"/>
          <a:stretch/>
        </p:blipFill>
        <p:spPr bwMode="auto">
          <a:xfrm>
            <a:off x="1138996" y="2285577"/>
            <a:ext cx="4967972" cy="3831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" name="그룹 44"/>
          <p:cNvGrpSpPr/>
          <p:nvPr/>
        </p:nvGrpSpPr>
        <p:grpSpPr>
          <a:xfrm rot="19451832" flipH="1">
            <a:off x="4650999" y="1992158"/>
            <a:ext cx="262841" cy="1837050"/>
            <a:chOff x="2772383" y="1440602"/>
            <a:chExt cx="144000" cy="1006450"/>
          </a:xfrm>
        </p:grpSpPr>
        <p:sp>
          <p:nvSpPr>
            <p:cNvPr id="48" name="타원 47"/>
            <p:cNvSpPr/>
            <p:nvPr/>
          </p:nvSpPr>
          <p:spPr>
            <a:xfrm>
              <a:off x="2772383" y="2303052"/>
              <a:ext cx="144000" cy="144000"/>
            </a:xfrm>
            <a:prstGeom prst="ellipse">
              <a:avLst/>
            </a:prstGeom>
            <a:solidFill>
              <a:srgbClr val="FF7D7D"/>
            </a:solidFill>
            <a:ln>
              <a:noFill/>
            </a:ln>
            <a:effectLst>
              <a:outerShdw dist="25400" dir="18060000" algn="t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2772383" y="1440602"/>
              <a:ext cx="144000" cy="720000"/>
            </a:xfrm>
            <a:prstGeom prst="roundRect">
              <a:avLst/>
            </a:prstGeom>
            <a:solidFill>
              <a:srgbClr val="FF7D7D"/>
            </a:solidFill>
            <a:ln>
              <a:noFill/>
            </a:ln>
            <a:effectLst>
              <a:outerShdw dist="25400" dir="18660000" algn="t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871023" y="1442717"/>
            <a:ext cx="3454234" cy="4921744"/>
            <a:chOff x="1871023" y="1442717"/>
            <a:chExt cx="3454234" cy="4921744"/>
          </a:xfrm>
        </p:grpSpPr>
        <p:grpSp>
          <p:nvGrpSpPr>
            <p:cNvPr id="5" name="그룹 4"/>
            <p:cNvGrpSpPr/>
            <p:nvPr/>
          </p:nvGrpSpPr>
          <p:grpSpPr>
            <a:xfrm>
              <a:off x="1871023" y="1442717"/>
              <a:ext cx="3454234" cy="4921744"/>
              <a:chOff x="1871023" y="1442717"/>
              <a:chExt cx="3454234" cy="4921744"/>
            </a:xfrm>
          </p:grpSpPr>
          <p:pic>
            <p:nvPicPr>
              <p:cNvPr id="1030" name="Picture 6" descr="...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1023" y="1442717"/>
                <a:ext cx="3454234" cy="49217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2823770" y="3533771"/>
                <a:ext cx="180902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환자분 느낌 있으세요</a:t>
                </a:r>
                <a:r>
                  <a:rPr lang="en-US" altLang="ko-KR" sz="1400" dirty="0" smtClean="0"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?</a:t>
                </a:r>
                <a:endParaRPr lang="ko-KR" altLang="en-US" sz="1400" dirty="0"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955260" y="6052234"/>
                <a:ext cx="322430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 err="1" smtClean="0"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아여</a:t>
                </a:r>
                <a:r>
                  <a:rPr lang="en-US" altLang="ko-KR" sz="1400" dirty="0" smtClean="0"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(</a:t>
                </a:r>
                <a:r>
                  <a:rPr lang="ko-KR" altLang="en-US" sz="1400" dirty="0" smtClean="0"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아녀</a:t>
                </a:r>
                <a:r>
                  <a:rPr lang="en-US" altLang="ko-KR" sz="1400" dirty="0" smtClean="0"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)</a:t>
                </a:r>
                <a:endParaRPr lang="ko-KR" altLang="en-US" sz="1400" dirty="0"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3176268" y="4819661"/>
              <a:ext cx="1189597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영 좋지 않은 센서</a:t>
              </a:r>
              <a:endParaRPr lang="ko-KR" altLang="en-US" sz="1200" dirty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15173" y="2223741"/>
              <a:ext cx="1189597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영 좋지 않은 센서</a:t>
              </a:r>
              <a:endParaRPr lang="ko-KR" altLang="en-US" sz="1200" dirty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006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센서가 뭐지</a:t>
            </a:r>
            <a:r>
              <a:rPr lang="en-US" altLang="ko-KR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sz="45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센서의 종류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046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278104" y="2323705"/>
            <a:ext cx="1505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물체의 유무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750320" y="3441404"/>
            <a:ext cx="686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위치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75466" y="2503641"/>
            <a:ext cx="700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압력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742639" y="2953328"/>
            <a:ext cx="671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속도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236426" y="4063691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회전 수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659065" y="3781455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가속도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885089" y="2965306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자기장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03167" y="3196138"/>
            <a:ext cx="426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빛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2050" name="Picture 2" descr="초음파센서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14056" y1="11166" x2="27672" y2="13896"/>
                        <a14:foregroundMark x1="24305" y1="11414" x2="86530" y2="11663"/>
                        <a14:foregroundMark x1="56515" y1="8189" x2="42167" y2="7692"/>
                        <a14:foregroundMark x1="4246" y1="6700" x2="46413" y2="7196"/>
                        <a14:foregroundMark x1="41288" y1="76179" x2="40703" y2="90323"/>
                        <a14:foregroundMark x1="46266" y1="75931" x2="46120" y2="92060"/>
                        <a14:foregroundMark x1="38360" y1="75682" x2="59883" y2="75682"/>
                        <a14:foregroundMark x1="50980" y1="76303" x2="50980" y2="933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571" y="1447548"/>
            <a:ext cx="1484901" cy="876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빛 센서에 대한 이미지 검색결과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2444" y1="28889" x2="40000" y2="32000"/>
                        <a14:foregroundMark x1="57333" y1="22222" x2="57333" y2="22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101" y="2467391"/>
            <a:ext cx="1529481" cy="152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회전 감지 센서에 대한 이미지 검색결과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500" b="94500" l="10000" r="90000">
                        <a14:foregroundMark x1="35000" y1="30500" x2="29500" y2="32000"/>
                        <a14:foregroundMark x1="38500" y1="35500" x2="40500" y2="47500"/>
                        <a14:backgroundMark x1="50000" y1="89000" x2="60500" y2="85500"/>
                        <a14:backgroundMark x1="40000" y1="90500" x2="43500" y2="91000"/>
                        <a14:backgroundMark x1="60000" y1="84500" x2="62000" y2="83000"/>
                        <a14:backgroundMark x1="67000" y1="81000" x2="69500" y2="80500"/>
                        <a14:backgroundMark x1="73500" y1="78000" x2="75500" y2="76500"/>
                        <a14:backgroundMark x1="75000" y1="75500" x2="72500" y2="77500"/>
                        <a14:backgroundMark x1="68500" y1="79000" x2="66000" y2="80000"/>
                        <a14:backgroundMark x1="81000" y1="72500" x2="78000" y2="74000"/>
                        <a14:backgroundMark x1="62000" y1="82000" x2="64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725" y="4149099"/>
            <a:ext cx="1218546" cy="121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가속도 센서에 대한 이미지 검색결과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866" y="3996872"/>
            <a:ext cx="1928083" cy="144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자기장 센서에 대한 이미지 검색결과"/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0" b="99219" l="5769" r="94231">
                        <a14:foregroundMark x1="71474" y1="10938" x2="65705" y2="70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922" y="2023029"/>
            <a:ext cx="1423658" cy="116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압력 센서에 대한 이미지 검색결과"/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2600" r="95200">
                        <a14:foregroundMark x1="24000" y1="44000" x2="65200" y2="49400"/>
                        <a14:foregroundMark x1="35400" y1="44200" x2="55200" y2="47000"/>
                        <a14:backgroundMark x1="20400" y1="52200" x2="23800" y2="51400"/>
                        <a14:backgroundMark x1="15800" y1="55000" x2="9800" y2="54600"/>
                        <a14:backgroundMark x1="16600" y1="54400" x2="12400" y2="54600"/>
                        <a14:backgroundMark x1="68200" y1="66400" x2="76400" y2="68000"/>
                        <a14:backgroundMark x1="78600" y1="68400" x2="81200" y2="69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926" y="767318"/>
            <a:ext cx="2163669" cy="216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/>
          <p:cNvSpPr txBox="1"/>
          <p:nvPr/>
        </p:nvSpPr>
        <p:spPr>
          <a:xfrm>
            <a:off x="5615341" y="4373298"/>
            <a:ext cx="1000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온</a:t>
            </a:r>
            <a:r>
              <a:rPr lang="en-US" altLang="ko-KR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·</a:t>
            </a:r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습도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548" b="98142" l="1667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57" y="4883897"/>
            <a:ext cx="1428082" cy="1098263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662" b="94737" l="3111" r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972" y="4939289"/>
            <a:ext cx="1255626" cy="1007291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662" b="94737" l="3111" r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464" y="2765581"/>
            <a:ext cx="1255626" cy="100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35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 </a:t>
            </a:r>
            <a:r>
              <a:rPr lang="ko-KR" altLang="en-US" sz="4500" dirty="0" err="1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파헤쳐보기</a:t>
            </a:r>
            <a:endParaRPr lang="ko-KR" altLang="en-US" sz="45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조도 센서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(CDS)</a:t>
            </a:r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원리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538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94335" y="4577295"/>
            <a:ext cx="28644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빛의 양이 </a:t>
            </a:r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감소</a:t>
            </a:r>
            <a:endParaRPr lang="en-US" altLang="ko-KR" sz="24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24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 -&gt; </a:t>
            </a:r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저항의 증가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17153" y="4577295"/>
            <a:ext cx="25474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빛의 양이 </a:t>
            </a:r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증가</a:t>
            </a:r>
            <a:endParaRPr lang="en-US" altLang="ko-KR" sz="24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24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 -&gt; </a:t>
            </a:r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저항의 감소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8145488" y="3646702"/>
            <a:ext cx="1577997" cy="442390"/>
            <a:chOff x="7020831" y="3350419"/>
            <a:chExt cx="1577997" cy="442390"/>
          </a:xfrm>
        </p:grpSpPr>
        <p:cxnSp>
          <p:nvCxnSpPr>
            <p:cNvPr id="4" name="직선 연결선 3"/>
            <p:cNvCxnSpPr/>
            <p:nvPr/>
          </p:nvCxnSpPr>
          <p:spPr>
            <a:xfrm>
              <a:off x="7020831" y="3577004"/>
              <a:ext cx="1577997" cy="11396"/>
            </a:xfrm>
            <a:prstGeom prst="line">
              <a:avLst/>
            </a:prstGeom>
            <a:ln w="5715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/>
          </p:nvCxnSpPr>
          <p:spPr>
            <a:xfrm>
              <a:off x="7378768" y="3589085"/>
              <a:ext cx="95478" cy="203724"/>
            </a:xfrm>
            <a:prstGeom prst="line">
              <a:avLst/>
            </a:prstGeom>
            <a:ln w="762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/>
            <p:cNvCxnSpPr/>
            <p:nvPr/>
          </p:nvCxnSpPr>
          <p:spPr>
            <a:xfrm flipH="1">
              <a:off x="7481287" y="3350419"/>
              <a:ext cx="205388" cy="442390"/>
            </a:xfrm>
            <a:prstGeom prst="line">
              <a:avLst/>
            </a:prstGeom>
            <a:ln w="762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/>
            <p:nvPr/>
          </p:nvCxnSpPr>
          <p:spPr>
            <a:xfrm>
              <a:off x="7686675" y="3350419"/>
              <a:ext cx="205388" cy="442390"/>
            </a:xfrm>
            <a:prstGeom prst="line">
              <a:avLst/>
            </a:prstGeom>
            <a:ln w="762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/>
            <p:cNvCxnSpPr/>
            <p:nvPr/>
          </p:nvCxnSpPr>
          <p:spPr>
            <a:xfrm flipH="1">
              <a:off x="7892063" y="3360940"/>
              <a:ext cx="205387" cy="431869"/>
            </a:xfrm>
            <a:prstGeom prst="line">
              <a:avLst/>
            </a:prstGeom>
            <a:ln w="762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 flipH="1" flipV="1">
              <a:off x="8096427" y="3360940"/>
              <a:ext cx="95488" cy="210674"/>
            </a:xfrm>
            <a:prstGeom prst="line">
              <a:avLst/>
            </a:prstGeom>
            <a:ln w="762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이등변 삼각형 18"/>
            <p:cNvSpPr/>
            <p:nvPr/>
          </p:nvSpPr>
          <p:spPr>
            <a:xfrm>
              <a:off x="7561176" y="3418393"/>
              <a:ext cx="248377" cy="295283"/>
            </a:xfrm>
            <a:prstGeom prst="triangle">
              <a:avLst/>
            </a:prstGeom>
            <a:solidFill>
              <a:srgbClr val="333F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이등변 삼각형 51"/>
            <p:cNvSpPr/>
            <p:nvPr/>
          </p:nvSpPr>
          <p:spPr>
            <a:xfrm>
              <a:off x="7972239" y="3420849"/>
              <a:ext cx="248377" cy="295283"/>
            </a:xfrm>
            <a:prstGeom prst="triangle">
              <a:avLst/>
            </a:prstGeom>
            <a:solidFill>
              <a:srgbClr val="333F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이등변 삼각형 52"/>
            <p:cNvSpPr/>
            <p:nvPr/>
          </p:nvSpPr>
          <p:spPr>
            <a:xfrm flipV="1">
              <a:off x="7352601" y="3435060"/>
              <a:ext cx="248377" cy="295283"/>
            </a:xfrm>
            <a:prstGeom prst="triangle">
              <a:avLst/>
            </a:prstGeom>
            <a:solidFill>
              <a:srgbClr val="333F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이등변 삼각형 55"/>
            <p:cNvSpPr/>
            <p:nvPr/>
          </p:nvSpPr>
          <p:spPr>
            <a:xfrm flipV="1">
              <a:off x="7767874" y="3435060"/>
              <a:ext cx="248377" cy="295283"/>
            </a:xfrm>
            <a:prstGeom prst="triangle">
              <a:avLst/>
            </a:prstGeom>
            <a:solidFill>
              <a:srgbClr val="333F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번개 57"/>
          <p:cNvSpPr/>
          <p:nvPr/>
        </p:nvSpPr>
        <p:spPr>
          <a:xfrm rot="17534129">
            <a:off x="8418352" y="1987977"/>
            <a:ext cx="862675" cy="1440213"/>
          </a:xfrm>
          <a:prstGeom prst="lightningBol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아래쪽 화살표 58"/>
          <p:cNvSpPr/>
          <p:nvPr/>
        </p:nvSpPr>
        <p:spPr>
          <a:xfrm rot="10800000">
            <a:off x="9919707" y="2356162"/>
            <a:ext cx="579781" cy="58737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아래쪽 화살표 60"/>
          <p:cNvSpPr/>
          <p:nvPr/>
        </p:nvSpPr>
        <p:spPr>
          <a:xfrm rot="10800000" flipV="1">
            <a:off x="9919707" y="3548081"/>
            <a:ext cx="579781" cy="587375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4" name="그룹 63"/>
          <p:cNvGrpSpPr/>
          <p:nvPr/>
        </p:nvGrpSpPr>
        <p:grpSpPr>
          <a:xfrm>
            <a:off x="742335" y="3646702"/>
            <a:ext cx="1577997" cy="442390"/>
            <a:chOff x="7020831" y="3350419"/>
            <a:chExt cx="1577997" cy="442390"/>
          </a:xfrm>
        </p:grpSpPr>
        <p:cxnSp>
          <p:nvCxnSpPr>
            <p:cNvPr id="65" name="직선 연결선 64"/>
            <p:cNvCxnSpPr/>
            <p:nvPr/>
          </p:nvCxnSpPr>
          <p:spPr>
            <a:xfrm>
              <a:off x="7020831" y="3577004"/>
              <a:ext cx="1577997" cy="11396"/>
            </a:xfrm>
            <a:prstGeom prst="line">
              <a:avLst/>
            </a:prstGeom>
            <a:ln w="5715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>
              <a:off x="7378768" y="3589085"/>
              <a:ext cx="95478" cy="203724"/>
            </a:xfrm>
            <a:prstGeom prst="line">
              <a:avLst/>
            </a:prstGeom>
            <a:ln w="762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/>
            <p:nvPr/>
          </p:nvCxnSpPr>
          <p:spPr>
            <a:xfrm flipH="1">
              <a:off x="7481287" y="3350419"/>
              <a:ext cx="205388" cy="442390"/>
            </a:xfrm>
            <a:prstGeom prst="line">
              <a:avLst/>
            </a:prstGeom>
            <a:ln w="762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>
              <a:off x="7686675" y="3350419"/>
              <a:ext cx="205388" cy="442390"/>
            </a:xfrm>
            <a:prstGeom prst="line">
              <a:avLst/>
            </a:prstGeom>
            <a:ln w="762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 flipH="1">
              <a:off x="7892063" y="3360940"/>
              <a:ext cx="205387" cy="431869"/>
            </a:xfrm>
            <a:prstGeom prst="line">
              <a:avLst/>
            </a:prstGeom>
            <a:ln w="762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/>
            <p:cNvCxnSpPr/>
            <p:nvPr/>
          </p:nvCxnSpPr>
          <p:spPr>
            <a:xfrm flipH="1" flipV="1">
              <a:off x="8096427" y="3360940"/>
              <a:ext cx="95488" cy="210674"/>
            </a:xfrm>
            <a:prstGeom prst="line">
              <a:avLst/>
            </a:prstGeom>
            <a:ln w="762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이등변 삼각형 70"/>
            <p:cNvSpPr/>
            <p:nvPr/>
          </p:nvSpPr>
          <p:spPr>
            <a:xfrm>
              <a:off x="7561176" y="3418393"/>
              <a:ext cx="248377" cy="295283"/>
            </a:xfrm>
            <a:prstGeom prst="triangle">
              <a:avLst/>
            </a:prstGeom>
            <a:solidFill>
              <a:srgbClr val="2A33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이등변 삼각형 71"/>
            <p:cNvSpPr/>
            <p:nvPr/>
          </p:nvSpPr>
          <p:spPr>
            <a:xfrm>
              <a:off x="7972239" y="3420849"/>
              <a:ext cx="248377" cy="295283"/>
            </a:xfrm>
            <a:prstGeom prst="triangle">
              <a:avLst/>
            </a:prstGeom>
            <a:solidFill>
              <a:srgbClr val="2A33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이등변 삼각형 72"/>
            <p:cNvSpPr/>
            <p:nvPr/>
          </p:nvSpPr>
          <p:spPr>
            <a:xfrm flipV="1">
              <a:off x="7352601" y="3435060"/>
              <a:ext cx="248377" cy="295283"/>
            </a:xfrm>
            <a:prstGeom prst="triangle">
              <a:avLst/>
            </a:prstGeom>
            <a:solidFill>
              <a:srgbClr val="2A33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이등변 삼각형 73"/>
            <p:cNvSpPr/>
            <p:nvPr/>
          </p:nvSpPr>
          <p:spPr>
            <a:xfrm flipV="1">
              <a:off x="7767874" y="3435060"/>
              <a:ext cx="248377" cy="295283"/>
            </a:xfrm>
            <a:prstGeom prst="triangle">
              <a:avLst/>
            </a:prstGeom>
            <a:solidFill>
              <a:srgbClr val="2A33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5" name="번개 74"/>
          <p:cNvSpPr/>
          <p:nvPr/>
        </p:nvSpPr>
        <p:spPr>
          <a:xfrm rot="17534129">
            <a:off x="1015199" y="1987977"/>
            <a:ext cx="862675" cy="1440213"/>
          </a:xfrm>
          <a:prstGeom prst="lightningBol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아래쪽 화살표 75"/>
          <p:cNvSpPr/>
          <p:nvPr/>
        </p:nvSpPr>
        <p:spPr>
          <a:xfrm>
            <a:off x="2516554" y="2356162"/>
            <a:ext cx="579781" cy="587375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아래쪽 화살표 76"/>
          <p:cNvSpPr/>
          <p:nvPr/>
        </p:nvSpPr>
        <p:spPr>
          <a:xfrm flipV="1">
            <a:off x="2516554" y="3548081"/>
            <a:ext cx="579781" cy="58737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cds sensor icon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172" y="2036709"/>
            <a:ext cx="3241026" cy="3241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5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/>
          <p:cNvGrpSpPr/>
          <p:nvPr/>
        </p:nvGrpSpPr>
        <p:grpSpPr>
          <a:xfrm>
            <a:off x="748992" y="2083003"/>
            <a:ext cx="9839790" cy="4053737"/>
            <a:chOff x="3910022" y="4566449"/>
            <a:chExt cx="9839790" cy="4053737"/>
          </a:xfrm>
        </p:grpSpPr>
        <p:grpSp>
          <p:nvGrpSpPr>
            <p:cNvPr id="14" name="그룹 13"/>
            <p:cNvGrpSpPr/>
            <p:nvPr/>
          </p:nvGrpSpPr>
          <p:grpSpPr>
            <a:xfrm>
              <a:off x="3910022" y="4837635"/>
              <a:ext cx="9839790" cy="3782551"/>
              <a:chOff x="742335" y="2356162"/>
              <a:chExt cx="9839790" cy="3782551"/>
            </a:xfrm>
          </p:grpSpPr>
          <p:grpSp>
            <p:nvGrpSpPr>
              <p:cNvPr id="56" name="그룹 55"/>
              <p:cNvGrpSpPr/>
              <p:nvPr/>
            </p:nvGrpSpPr>
            <p:grpSpPr>
              <a:xfrm>
                <a:off x="8145488" y="3646702"/>
                <a:ext cx="1577997" cy="442390"/>
                <a:chOff x="7020831" y="3350419"/>
                <a:chExt cx="1577997" cy="442390"/>
              </a:xfrm>
            </p:grpSpPr>
            <p:cxnSp>
              <p:nvCxnSpPr>
                <p:cNvPr id="57" name="직선 연결선 56"/>
                <p:cNvCxnSpPr/>
                <p:nvPr/>
              </p:nvCxnSpPr>
              <p:spPr>
                <a:xfrm>
                  <a:off x="7020831" y="3577004"/>
                  <a:ext cx="1577997" cy="11396"/>
                </a:xfrm>
                <a:prstGeom prst="line">
                  <a:avLst/>
                </a:prstGeom>
                <a:ln w="57150" cap="rnd">
                  <a:solidFill>
                    <a:srgbClr val="DFB54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57"/>
                <p:cNvCxnSpPr/>
                <p:nvPr/>
              </p:nvCxnSpPr>
              <p:spPr>
                <a:xfrm>
                  <a:off x="7378768" y="3589085"/>
                  <a:ext cx="95478" cy="203724"/>
                </a:xfrm>
                <a:prstGeom prst="line">
                  <a:avLst/>
                </a:prstGeom>
                <a:ln w="76200" cap="rnd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58"/>
                <p:cNvCxnSpPr/>
                <p:nvPr/>
              </p:nvCxnSpPr>
              <p:spPr>
                <a:xfrm flipH="1">
                  <a:off x="7481287" y="3350419"/>
                  <a:ext cx="205388" cy="442390"/>
                </a:xfrm>
                <a:prstGeom prst="line">
                  <a:avLst/>
                </a:prstGeom>
                <a:ln w="76200" cap="rnd">
                  <a:solidFill>
                    <a:srgbClr val="DFB54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직선 연결선 59"/>
                <p:cNvCxnSpPr/>
                <p:nvPr/>
              </p:nvCxnSpPr>
              <p:spPr>
                <a:xfrm>
                  <a:off x="7686675" y="3350419"/>
                  <a:ext cx="205388" cy="442390"/>
                </a:xfrm>
                <a:prstGeom prst="line">
                  <a:avLst/>
                </a:prstGeom>
                <a:ln w="76200" cap="rnd">
                  <a:solidFill>
                    <a:srgbClr val="DFB54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직선 연결선 60"/>
                <p:cNvCxnSpPr/>
                <p:nvPr/>
              </p:nvCxnSpPr>
              <p:spPr>
                <a:xfrm flipH="1">
                  <a:off x="7892063" y="3360940"/>
                  <a:ext cx="205387" cy="431869"/>
                </a:xfrm>
                <a:prstGeom prst="line">
                  <a:avLst/>
                </a:prstGeom>
                <a:ln w="76200" cap="rnd">
                  <a:solidFill>
                    <a:srgbClr val="DFB54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/>
                <p:cNvCxnSpPr/>
                <p:nvPr/>
              </p:nvCxnSpPr>
              <p:spPr>
                <a:xfrm flipH="1" flipV="1">
                  <a:off x="8096427" y="3360940"/>
                  <a:ext cx="95488" cy="210674"/>
                </a:xfrm>
                <a:prstGeom prst="line">
                  <a:avLst/>
                </a:prstGeom>
                <a:ln w="76200" cap="rnd">
                  <a:solidFill>
                    <a:srgbClr val="DFB54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이등변 삼각형 62"/>
                <p:cNvSpPr/>
                <p:nvPr/>
              </p:nvSpPr>
              <p:spPr>
                <a:xfrm>
                  <a:off x="7561176" y="3418393"/>
                  <a:ext cx="248377" cy="295283"/>
                </a:xfrm>
                <a:prstGeom prst="triangle">
                  <a:avLst/>
                </a:prstGeom>
                <a:solidFill>
                  <a:srgbClr val="333F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4" name="이등변 삼각형 63"/>
                <p:cNvSpPr/>
                <p:nvPr/>
              </p:nvSpPr>
              <p:spPr>
                <a:xfrm>
                  <a:off x="7972239" y="3420849"/>
                  <a:ext cx="248377" cy="295283"/>
                </a:xfrm>
                <a:prstGeom prst="triangle">
                  <a:avLst/>
                </a:prstGeom>
                <a:solidFill>
                  <a:srgbClr val="333F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5" name="이등변 삼각형 64"/>
                <p:cNvSpPr/>
                <p:nvPr/>
              </p:nvSpPr>
              <p:spPr>
                <a:xfrm flipV="1">
                  <a:off x="7352601" y="3435060"/>
                  <a:ext cx="248377" cy="295283"/>
                </a:xfrm>
                <a:prstGeom prst="triangle">
                  <a:avLst/>
                </a:prstGeom>
                <a:solidFill>
                  <a:srgbClr val="333F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" name="이등변 삼각형 65"/>
                <p:cNvSpPr/>
                <p:nvPr/>
              </p:nvSpPr>
              <p:spPr>
                <a:xfrm flipV="1">
                  <a:off x="7767874" y="3435060"/>
                  <a:ext cx="248377" cy="295283"/>
                </a:xfrm>
                <a:prstGeom prst="triangle">
                  <a:avLst/>
                </a:prstGeom>
                <a:solidFill>
                  <a:srgbClr val="333F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7" name="아래쪽 화살표 66"/>
              <p:cNvSpPr/>
              <p:nvPr/>
            </p:nvSpPr>
            <p:spPr>
              <a:xfrm rot="10800000">
                <a:off x="9919707" y="2356162"/>
                <a:ext cx="579781" cy="587375"/>
              </a:xfrm>
              <a:prstGeom prst="downArrow">
                <a:avLst/>
              </a:prstGeom>
              <a:solidFill>
                <a:srgbClr val="CA7035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아래쪽 화살표 67"/>
              <p:cNvSpPr/>
              <p:nvPr/>
            </p:nvSpPr>
            <p:spPr>
              <a:xfrm rot="10800000" flipV="1">
                <a:off x="9919707" y="3548081"/>
                <a:ext cx="579781" cy="587375"/>
              </a:xfrm>
              <a:prstGeom prst="downArrow">
                <a:avLst/>
              </a:prstGeom>
              <a:solidFill>
                <a:srgbClr val="DFB54C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9" name="그룹 68"/>
              <p:cNvGrpSpPr/>
              <p:nvPr/>
            </p:nvGrpSpPr>
            <p:grpSpPr>
              <a:xfrm>
                <a:off x="742335" y="3646702"/>
                <a:ext cx="1577997" cy="442390"/>
                <a:chOff x="7020831" y="3350419"/>
                <a:chExt cx="1577997" cy="442390"/>
              </a:xfrm>
            </p:grpSpPr>
            <p:cxnSp>
              <p:nvCxnSpPr>
                <p:cNvPr id="70" name="직선 연결선 69"/>
                <p:cNvCxnSpPr/>
                <p:nvPr/>
              </p:nvCxnSpPr>
              <p:spPr>
                <a:xfrm>
                  <a:off x="7020831" y="3577004"/>
                  <a:ext cx="1577997" cy="11396"/>
                </a:xfrm>
                <a:prstGeom prst="line">
                  <a:avLst/>
                </a:prstGeom>
                <a:ln w="57150" cap="rnd">
                  <a:solidFill>
                    <a:srgbClr val="CA703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/>
                <p:cNvCxnSpPr/>
                <p:nvPr/>
              </p:nvCxnSpPr>
              <p:spPr>
                <a:xfrm>
                  <a:off x="7378768" y="3589085"/>
                  <a:ext cx="95478" cy="203724"/>
                </a:xfrm>
                <a:prstGeom prst="line">
                  <a:avLst/>
                </a:prstGeom>
                <a:ln w="76200" cap="rnd">
                  <a:solidFill>
                    <a:srgbClr val="CA703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/>
                <p:cNvCxnSpPr/>
                <p:nvPr/>
              </p:nvCxnSpPr>
              <p:spPr>
                <a:xfrm flipH="1">
                  <a:off x="7481287" y="3350419"/>
                  <a:ext cx="205388" cy="442390"/>
                </a:xfrm>
                <a:prstGeom prst="line">
                  <a:avLst/>
                </a:prstGeom>
                <a:ln w="76200" cap="rnd">
                  <a:solidFill>
                    <a:srgbClr val="CA703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/>
                <p:cNvCxnSpPr/>
                <p:nvPr/>
              </p:nvCxnSpPr>
              <p:spPr>
                <a:xfrm>
                  <a:off x="7686675" y="3350419"/>
                  <a:ext cx="205388" cy="442390"/>
                </a:xfrm>
                <a:prstGeom prst="line">
                  <a:avLst/>
                </a:prstGeom>
                <a:ln w="76200" cap="rnd">
                  <a:solidFill>
                    <a:srgbClr val="CA703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직선 연결선 73"/>
                <p:cNvCxnSpPr/>
                <p:nvPr/>
              </p:nvCxnSpPr>
              <p:spPr>
                <a:xfrm flipH="1">
                  <a:off x="7892063" y="3360940"/>
                  <a:ext cx="205387" cy="431869"/>
                </a:xfrm>
                <a:prstGeom prst="line">
                  <a:avLst/>
                </a:prstGeom>
                <a:ln w="76200" cap="rnd">
                  <a:solidFill>
                    <a:srgbClr val="CA703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직선 연결선 74"/>
                <p:cNvCxnSpPr/>
                <p:nvPr/>
              </p:nvCxnSpPr>
              <p:spPr>
                <a:xfrm flipH="1" flipV="1">
                  <a:off x="8096427" y="3360940"/>
                  <a:ext cx="95488" cy="210674"/>
                </a:xfrm>
                <a:prstGeom prst="line">
                  <a:avLst/>
                </a:prstGeom>
                <a:ln w="76200" cap="rnd">
                  <a:solidFill>
                    <a:srgbClr val="CA703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이등변 삼각형 75"/>
                <p:cNvSpPr/>
                <p:nvPr/>
              </p:nvSpPr>
              <p:spPr>
                <a:xfrm>
                  <a:off x="7561176" y="3418393"/>
                  <a:ext cx="248377" cy="295283"/>
                </a:xfrm>
                <a:prstGeom prst="triangle">
                  <a:avLst/>
                </a:prstGeom>
                <a:solidFill>
                  <a:srgbClr val="2A334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7" name="이등변 삼각형 76"/>
                <p:cNvSpPr/>
                <p:nvPr/>
              </p:nvSpPr>
              <p:spPr>
                <a:xfrm>
                  <a:off x="7972239" y="3420849"/>
                  <a:ext cx="248377" cy="295283"/>
                </a:xfrm>
                <a:prstGeom prst="triangle">
                  <a:avLst/>
                </a:prstGeom>
                <a:solidFill>
                  <a:srgbClr val="2A334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8" name="이등변 삼각형 77"/>
                <p:cNvSpPr/>
                <p:nvPr/>
              </p:nvSpPr>
              <p:spPr>
                <a:xfrm flipV="1">
                  <a:off x="7352601" y="3435060"/>
                  <a:ext cx="248377" cy="295283"/>
                </a:xfrm>
                <a:prstGeom prst="triangle">
                  <a:avLst/>
                </a:prstGeom>
                <a:solidFill>
                  <a:srgbClr val="2A334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9" name="이등변 삼각형 78"/>
                <p:cNvSpPr/>
                <p:nvPr/>
              </p:nvSpPr>
              <p:spPr>
                <a:xfrm flipV="1">
                  <a:off x="7767874" y="3435060"/>
                  <a:ext cx="248377" cy="295283"/>
                </a:xfrm>
                <a:prstGeom prst="triangle">
                  <a:avLst/>
                </a:prstGeom>
                <a:solidFill>
                  <a:srgbClr val="2A334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80" name="아래쪽 화살표 79"/>
              <p:cNvSpPr/>
              <p:nvPr/>
            </p:nvSpPr>
            <p:spPr>
              <a:xfrm>
                <a:off x="2516554" y="2356162"/>
                <a:ext cx="579781" cy="587375"/>
              </a:xfrm>
              <a:prstGeom prst="downArrow">
                <a:avLst/>
              </a:prstGeom>
              <a:solidFill>
                <a:srgbClr val="DFB54C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" name="아래쪽 화살표 80"/>
              <p:cNvSpPr/>
              <p:nvPr/>
            </p:nvSpPr>
            <p:spPr>
              <a:xfrm flipV="1">
                <a:off x="2516554" y="3548081"/>
                <a:ext cx="579781" cy="587375"/>
              </a:xfrm>
              <a:prstGeom prst="downArrow">
                <a:avLst/>
              </a:prstGeom>
              <a:solidFill>
                <a:srgbClr val="CA7035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977041" y="4938384"/>
                <a:ext cx="215586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400" dirty="0" smtClean="0">
                    <a:solidFill>
                      <a:srgbClr val="FF7D7D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습도의 감소</a:t>
                </a:r>
                <a:endParaRPr lang="en-US" altLang="ko-KR" sz="2400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  <a:p>
                <a:r>
                  <a:rPr lang="en-US" altLang="ko-KR" sz="2400" dirty="0" smtClean="0">
                    <a:solidFill>
                      <a:srgbClr val="FF7D7D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    </a:t>
                </a:r>
              </a:p>
              <a:p>
                <a:r>
                  <a:rPr lang="en-US" altLang="ko-KR" sz="2400" dirty="0" smtClean="0">
                    <a:solidFill>
                      <a:srgbClr val="FF7D7D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    -&gt;</a:t>
                </a:r>
                <a:r>
                  <a:rPr lang="ko-KR" altLang="en-US" sz="2400" dirty="0" smtClean="0">
                    <a:solidFill>
                      <a:srgbClr val="FF7D7D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저항의 증가</a:t>
                </a:r>
                <a:endParaRPr lang="en-US" altLang="ko-KR" sz="2400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8034633" y="4843307"/>
                <a:ext cx="254749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400" dirty="0" smtClean="0">
                    <a:solidFill>
                      <a:srgbClr val="FF7D7D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습도의 증가</a:t>
                </a:r>
                <a:endParaRPr lang="en-US" altLang="ko-KR" sz="2400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  <a:p>
                <a:endParaRPr lang="en-US" altLang="ko-KR" sz="2400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  <a:p>
                <a:r>
                  <a:rPr lang="en-US" altLang="ko-KR" sz="2400" dirty="0" smtClean="0">
                    <a:solidFill>
                      <a:srgbClr val="FF7D7D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        -&gt; </a:t>
                </a:r>
                <a:r>
                  <a:rPr lang="ko-KR" altLang="en-US" sz="2400" dirty="0" smtClean="0">
                    <a:solidFill>
                      <a:srgbClr val="FF7D7D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저항의 감소</a:t>
                </a:r>
                <a:endParaRPr lang="ko-KR" altLang="en-US" sz="2400" dirty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</p:txBody>
          </p:sp>
        </p:grpSp>
        <p:sp>
          <p:nvSpPr>
            <p:cNvPr id="17" name="직사각형 16"/>
            <p:cNvSpPr/>
            <p:nvPr/>
          </p:nvSpPr>
          <p:spPr>
            <a:xfrm>
              <a:off x="4306109" y="4566449"/>
              <a:ext cx="743921" cy="1128605"/>
            </a:xfrm>
            <a:prstGeom prst="rect">
              <a:avLst/>
            </a:prstGeom>
            <a:blipFill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contrast="-74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11605747" y="4566449"/>
              <a:ext cx="743921" cy="1128605"/>
            </a:xfrm>
            <a:prstGeom prst="rect">
              <a:avLst/>
            </a:prstGeom>
            <a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contrast="-61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 </a:t>
            </a:r>
            <a:r>
              <a:rPr lang="ko-KR" altLang="en-US" sz="4500" dirty="0" err="1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파헤쳐보기</a:t>
            </a:r>
            <a:endParaRPr lang="ko-KR" altLang="en-US" sz="45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온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·</a:t>
            </a:r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습도 센서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(DHT11)</a:t>
            </a:r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원리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538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40032" y="307268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23665" y="3601863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/>
          <p:cNvGrpSpPr/>
          <p:nvPr/>
        </p:nvGrpSpPr>
        <p:grpSpPr>
          <a:xfrm>
            <a:off x="5524074" y="2155376"/>
            <a:ext cx="5760000" cy="2772000"/>
            <a:chOff x="5828546" y="2065463"/>
            <a:chExt cx="5760000" cy="2772000"/>
          </a:xfrm>
        </p:grpSpPr>
        <p:pic>
          <p:nvPicPr>
            <p:cNvPr id="5124" name="Picture 4" descr="습도 - 센서 - 작동 원리"/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8546" y="2065463"/>
              <a:ext cx="5760000" cy="277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/>
            <p:cNvSpPr txBox="1"/>
            <p:nvPr/>
          </p:nvSpPr>
          <p:spPr>
            <a:xfrm>
              <a:off x="7126576" y="2105050"/>
              <a:ext cx="72192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mtClean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전극</a:t>
              </a:r>
              <a:endPara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0773657" y="2567702"/>
              <a:ext cx="814889" cy="389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818042" y="2620557"/>
              <a:ext cx="755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mtClean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접합부</a:t>
              </a:r>
              <a:endPara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6300474" y="3231925"/>
              <a:ext cx="814889" cy="389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5888967" y="3231925"/>
              <a:ext cx="814889" cy="389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6356832" y="3231925"/>
              <a:ext cx="814889" cy="389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5836671" y="2897958"/>
              <a:ext cx="814889" cy="389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6318785" y="2897958"/>
              <a:ext cx="814889" cy="389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185385" y="3113487"/>
              <a:ext cx="1308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습도 기판</a:t>
              </a:r>
              <a:endPara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6679582" y="4127665"/>
              <a:ext cx="814889" cy="389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6711116" y="4428137"/>
              <a:ext cx="814889" cy="389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888207" y="4253394"/>
              <a:ext cx="619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전극</a:t>
              </a:r>
              <a:endPara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</p:grpSp>
      <p:pic>
        <p:nvPicPr>
          <p:cNvPr id="88" name="Picture 6" descr="UNDERLINE PNG에 대한 이미지 검색결과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398610">
            <a:off x="3504856" y="3462268"/>
            <a:ext cx="1531860" cy="53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/>
          <p:cNvGrpSpPr/>
          <p:nvPr/>
        </p:nvGrpSpPr>
        <p:grpSpPr>
          <a:xfrm>
            <a:off x="788845" y="1548133"/>
            <a:ext cx="4286250" cy="3787208"/>
            <a:chOff x="730477" y="1577317"/>
            <a:chExt cx="4286250" cy="3787208"/>
          </a:xfrm>
        </p:grpSpPr>
        <p:grpSp>
          <p:nvGrpSpPr>
            <p:cNvPr id="5" name="그룹 4"/>
            <p:cNvGrpSpPr/>
            <p:nvPr/>
          </p:nvGrpSpPr>
          <p:grpSpPr>
            <a:xfrm>
              <a:off x="730477" y="1577317"/>
              <a:ext cx="4286250" cy="3476626"/>
              <a:chOff x="1681339" y="2047020"/>
              <a:chExt cx="4286250" cy="3476626"/>
            </a:xfrm>
          </p:grpSpPr>
          <p:pic>
            <p:nvPicPr>
              <p:cNvPr id="5122" name="Picture 2" descr="DHT11-DDHT22-Working-Principle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26027" b="100000" l="10000" r="71556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81339" y="2047020"/>
                <a:ext cx="4286250" cy="34766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" name="직선 화살표 연결선 2"/>
              <p:cNvCxnSpPr/>
              <p:nvPr/>
            </p:nvCxnSpPr>
            <p:spPr>
              <a:xfrm flipH="1" flipV="1">
                <a:off x="4147501" y="4472559"/>
                <a:ext cx="672924" cy="502145"/>
              </a:xfrm>
              <a:prstGeom prst="straightConnector1">
                <a:avLst/>
              </a:prstGeom>
              <a:ln w="57150">
                <a:solidFill>
                  <a:srgbClr val="FF7D7D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직선 화살표 연결선 36"/>
              <p:cNvCxnSpPr/>
              <p:nvPr/>
            </p:nvCxnSpPr>
            <p:spPr>
              <a:xfrm flipV="1">
                <a:off x="2763297" y="3811145"/>
                <a:ext cx="737688" cy="92445"/>
              </a:xfrm>
              <a:prstGeom prst="straightConnector1">
                <a:avLst/>
              </a:prstGeom>
              <a:ln w="57150">
                <a:solidFill>
                  <a:srgbClr val="FF7D7D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TextBox 5"/>
              <p:cNvSpPr txBox="1"/>
              <p:nvPr/>
            </p:nvSpPr>
            <p:spPr>
              <a:xfrm>
                <a:off x="1770718" y="3718924"/>
                <a:ext cx="992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smtClean="0">
                    <a:solidFill>
                      <a:srgbClr val="FF7D7D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습도 감지</a:t>
                </a:r>
                <a:endParaRPr lang="ko-KR" altLang="en-US" dirty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337486" y="5035134"/>
                <a:ext cx="9877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smtClean="0">
                    <a:solidFill>
                      <a:srgbClr val="FF7D7D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온도 감지</a:t>
                </a:r>
                <a:endParaRPr lang="ko-KR" altLang="en-US" dirty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</p:txBody>
          </p:sp>
        </p:grpSp>
        <p:sp>
          <p:nvSpPr>
            <p:cNvPr id="87" name="TextBox 86"/>
            <p:cNvSpPr txBox="1"/>
            <p:nvPr/>
          </p:nvSpPr>
          <p:spPr>
            <a:xfrm>
              <a:off x="1971603" y="4995193"/>
              <a:ext cx="1443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▲</a:t>
              </a:r>
              <a:r>
                <a:rPr lang="en-US" altLang="ko-KR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DHT11 </a:t>
              </a:r>
              <a:r>
                <a:rPr lang="ko-KR" altLang="en-US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내부</a:t>
              </a:r>
              <a:endParaRPr lang="ko-KR" altLang="en-US" dirty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106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1.85185E-6 L 0.23438 0.0379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 </a:t>
            </a:r>
            <a:r>
              <a:rPr lang="ko-KR" altLang="en-US" sz="4500" dirty="0" err="1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파헤쳐보기</a:t>
            </a:r>
            <a:endParaRPr lang="ko-KR" altLang="en-US" sz="45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온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·</a:t>
            </a:r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습도 센서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(DHT11)</a:t>
            </a:r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원리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538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/>
          <p:cNvGrpSpPr/>
          <p:nvPr/>
        </p:nvGrpSpPr>
        <p:grpSpPr>
          <a:xfrm>
            <a:off x="8145488" y="3646702"/>
            <a:ext cx="1577997" cy="442390"/>
            <a:chOff x="7020831" y="3350419"/>
            <a:chExt cx="1577997" cy="442390"/>
          </a:xfrm>
        </p:grpSpPr>
        <p:cxnSp>
          <p:nvCxnSpPr>
            <p:cNvPr id="51" name="직선 연결선 50"/>
            <p:cNvCxnSpPr/>
            <p:nvPr/>
          </p:nvCxnSpPr>
          <p:spPr>
            <a:xfrm>
              <a:off x="7020831" y="3577004"/>
              <a:ext cx="1577997" cy="11396"/>
            </a:xfrm>
            <a:prstGeom prst="line">
              <a:avLst/>
            </a:prstGeom>
            <a:ln w="57150" cap="rnd">
              <a:solidFill>
                <a:srgbClr val="DFB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>
              <a:off x="7378768" y="3589085"/>
              <a:ext cx="95478" cy="203724"/>
            </a:xfrm>
            <a:prstGeom prst="line">
              <a:avLst/>
            </a:prstGeom>
            <a:ln w="762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 flipH="1">
              <a:off x="7481287" y="3350419"/>
              <a:ext cx="205388" cy="442390"/>
            </a:xfrm>
            <a:prstGeom prst="line">
              <a:avLst/>
            </a:prstGeom>
            <a:ln w="76200" cap="rnd">
              <a:solidFill>
                <a:srgbClr val="DFB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/>
            <p:cNvCxnSpPr/>
            <p:nvPr/>
          </p:nvCxnSpPr>
          <p:spPr>
            <a:xfrm>
              <a:off x="7686675" y="3350419"/>
              <a:ext cx="205388" cy="442390"/>
            </a:xfrm>
            <a:prstGeom prst="line">
              <a:avLst/>
            </a:prstGeom>
            <a:ln w="76200" cap="rnd">
              <a:solidFill>
                <a:srgbClr val="DFB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 flipH="1">
              <a:off x="7892063" y="3360940"/>
              <a:ext cx="205387" cy="431869"/>
            </a:xfrm>
            <a:prstGeom prst="line">
              <a:avLst/>
            </a:prstGeom>
            <a:ln w="76200" cap="rnd">
              <a:solidFill>
                <a:srgbClr val="DFB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 flipH="1" flipV="1">
              <a:off x="8096427" y="3360940"/>
              <a:ext cx="95488" cy="210674"/>
            </a:xfrm>
            <a:prstGeom prst="line">
              <a:avLst/>
            </a:prstGeom>
            <a:ln w="76200" cap="rnd">
              <a:solidFill>
                <a:srgbClr val="DFB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이등변 삼각형 56"/>
            <p:cNvSpPr/>
            <p:nvPr/>
          </p:nvSpPr>
          <p:spPr>
            <a:xfrm>
              <a:off x="7561176" y="3418393"/>
              <a:ext cx="248377" cy="295283"/>
            </a:xfrm>
            <a:prstGeom prst="triangle">
              <a:avLst/>
            </a:prstGeom>
            <a:solidFill>
              <a:srgbClr val="333F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이등변 삼각형 57"/>
            <p:cNvSpPr/>
            <p:nvPr/>
          </p:nvSpPr>
          <p:spPr>
            <a:xfrm>
              <a:off x="7972239" y="3420849"/>
              <a:ext cx="248377" cy="295283"/>
            </a:xfrm>
            <a:prstGeom prst="triangle">
              <a:avLst/>
            </a:prstGeom>
            <a:solidFill>
              <a:srgbClr val="333F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이등변 삼각형 58"/>
            <p:cNvSpPr/>
            <p:nvPr/>
          </p:nvSpPr>
          <p:spPr>
            <a:xfrm flipV="1">
              <a:off x="7352601" y="3435060"/>
              <a:ext cx="248377" cy="295283"/>
            </a:xfrm>
            <a:prstGeom prst="triangle">
              <a:avLst/>
            </a:prstGeom>
            <a:solidFill>
              <a:srgbClr val="333F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이등변 삼각형 59"/>
            <p:cNvSpPr/>
            <p:nvPr/>
          </p:nvSpPr>
          <p:spPr>
            <a:xfrm flipV="1">
              <a:off x="7767874" y="3435060"/>
              <a:ext cx="248377" cy="295283"/>
            </a:xfrm>
            <a:prstGeom prst="triangle">
              <a:avLst/>
            </a:prstGeom>
            <a:solidFill>
              <a:srgbClr val="333F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아래쪽 화살표 61"/>
          <p:cNvSpPr/>
          <p:nvPr/>
        </p:nvSpPr>
        <p:spPr>
          <a:xfrm rot="10800000">
            <a:off x="9919707" y="2356162"/>
            <a:ext cx="579781" cy="587375"/>
          </a:xfrm>
          <a:prstGeom prst="downArrow">
            <a:avLst/>
          </a:prstGeom>
          <a:solidFill>
            <a:srgbClr val="CA7035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아래쪽 화살표 62"/>
          <p:cNvSpPr/>
          <p:nvPr/>
        </p:nvSpPr>
        <p:spPr>
          <a:xfrm rot="10800000" flipV="1">
            <a:off x="9919707" y="3548081"/>
            <a:ext cx="579781" cy="587375"/>
          </a:xfrm>
          <a:prstGeom prst="downArrow">
            <a:avLst/>
          </a:prstGeom>
          <a:solidFill>
            <a:srgbClr val="DFB54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4" name="그룹 63"/>
          <p:cNvGrpSpPr/>
          <p:nvPr/>
        </p:nvGrpSpPr>
        <p:grpSpPr>
          <a:xfrm>
            <a:off x="742335" y="3646702"/>
            <a:ext cx="1577997" cy="442390"/>
            <a:chOff x="7020831" y="3350419"/>
            <a:chExt cx="1577997" cy="442390"/>
          </a:xfrm>
        </p:grpSpPr>
        <p:cxnSp>
          <p:nvCxnSpPr>
            <p:cNvPr id="65" name="직선 연결선 64"/>
            <p:cNvCxnSpPr/>
            <p:nvPr/>
          </p:nvCxnSpPr>
          <p:spPr>
            <a:xfrm>
              <a:off x="7020831" y="3577004"/>
              <a:ext cx="1577997" cy="11396"/>
            </a:xfrm>
            <a:prstGeom prst="line">
              <a:avLst/>
            </a:prstGeom>
            <a:ln w="57150" cap="rnd">
              <a:solidFill>
                <a:srgbClr val="CA70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>
              <a:off x="7378768" y="3589085"/>
              <a:ext cx="95478" cy="203724"/>
            </a:xfrm>
            <a:prstGeom prst="line">
              <a:avLst/>
            </a:prstGeom>
            <a:ln w="76200" cap="rnd">
              <a:solidFill>
                <a:srgbClr val="CA70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/>
            <p:nvPr/>
          </p:nvCxnSpPr>
          <p:spPr>
            <a:xfrm flipH="1">
              <a:off x="7481287" y="3350419"/>
              <a:ext cx="205388" cy="442390"/>
            </a:xfrm>
            <a:prstGeom prst="line">
              <a:avLst/>
            </a:prstGeom>
            <a:ln w="76200" cap="rnd">
              <a:solidFill>
                <a:srgbClr val="CA70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>
              <a:off x="7686675" y="3350419"/>
              <a:ext cx="205388" cy="442390"/>
            </a:xfrm>
            <a:prstGeom prst="line">
              <a:avLst/>
            </a:prstGeom>
            <a:ln w="76200" cap="rnd">
              <a:solidFill>
                <a:srgbClr val="CA70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 flipH="1">
              <a:off x="7892063" y="3360940"/>
              <a:ext cx="205387" cy="431869"/>
            </a:xfrm>
            <a:prstGeom prst="line">
              <a:avLst/>
            </a:prstGeom>
            <a:ln w="76200" cap="rnd">
              <a:solidFill>
                <a:srgbClr val="CA70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/>
            <p:cNvCxnSpPr/>
            <p:nvPr/>
          </p:nvCxnSpPr>
          <p:spPr>
            <a:xfrm flipH="1" flipV="1">
              <a:off x="8096427" y="3360940"/>
              <a:ext cx="95488" cy="210674"/>
            </a:xfrm>
            <a:prstGeom prst="line">
              <a:avLst/>
            </a:prstGeom>
            <a:ln w="76200" cap="rnd">
              <a:solidFill>
                <a:srgbClr val="CA70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이등변 삼각형 70"/>
            <p:cNvSpPr/>
            <p:nvPr/>
          </p:nvSpPr>
          <p:spPr>
            <a:xfrm>
              <a:off x="7561176" y="3418393"/>
              <a:ext cx="248377" cy="295283"/>
            </a:xfrm>
            <a:prstGeom prst="triangle">
              <a:avLst/>
            </a:prstGeom>
            <a:solidFill>
              <a:srgbClr val="2A33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이등변 삼각형 71"/>
            <p:cNvSpPr/>
            <p:nvPr/>
          </p:nvSpPr>
          <p:spPr>
            <a:xfrm>
              <a:off x="7972239" y="3420849"/>
              <a:ext cx="248377" cy="295283"/>
            </a:xfrm>
            <a:prstGeom prst="triangle">
              <a:avLst/>
            </a:prstGeom>
            <a:solidFill>
              <a:srgbClr val="2A33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이등변 삼각형 72"/>
            <p:cNvSpPr/>
            <p:nvPr/>
          </p:nvSpPr>
          <p:spPr>
            <a:xfrm flipV="1">
              <a:off x="7352601" y="3435060"/>
              <a:ext cx="248377" cy="295283"/>
            </a:xfrm>
            <a:prstGeom prst="triangle">
              <a:avLst/>
            </a:prstGeom>
            <a:solidFill>
              <a:srgbClr val="2A33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이등변 삼각형 73"/>
            <p:cNvSpPr/>
            <p:nvPr/>
          </p:nvSpPr>
          <p:spPr>
            <a:xfrm flipV="1">
              <a:off x="7767874" y="3435060"/>
              <a:ext cx="248377" cy="295283"/>
            </a:xfrm>
            <a:prstGeom prst="triangle">
              <a:avLst/>
            </a:prstGeom>
            <a:solidFill>
              <a:srgbClr val="2A33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6" name="아래쪽 화살표 75"/>
          <p:cNvSpPr/>
          <p:nvPr/>
        </p:nvSpPr>
        <p:spPr>
          <a:xfrm>
            <a:off x="2516554" y="2356162"/>
            <a:ext cx="579781" cy="587375"/>
          </a:xfrm>
          <a:prstGeom prst="downArrow">
            <a:avLst/>
          </a:prstGeom>
          <a:solidFill>
            <a:srgbClr val="DFB54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아래쪽 화살표 76"/>
          <p:cNvSpPr/>
          <p:nvPr/>
        </p:nvSpPr>
        <p:spPr>
          <a:xfrm flipV="1">
            <a:off x="2516554" y="3548081"/>
            <a:ext cx="579781" cy="587375"/>
          </a:xfrm>
          <a:prstGeom prst="downArrow">
            <a:avLst/>
          </a:prstGeom>
          <a:solidFill>
            <a:srgbClr val="CA7035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Science Temperature icon"/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808"/>
                    </a14:imgEffect>
                    <a14:imgEffect>
                      <a14:saturation sat="0"/>
                    </a14:imgEffect>
                    <a14:imgEffect>
                      <a14:brightnessContrast contrast="-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738" y="2044428"/>
            <a:ext cx="1182842" cy="11828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2" descr="Science Temperature icon"/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808"/>
                    </a14:imgEffect>
                    <a14:imgEffect>
                      <a14:saturation sat="0"/>
                    </a14:imgEffect>
                    <a14:imgEffect>
                      <a14:brightnessContrast bright="5000" contras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02" y="2044428"/>
            <a:ext cx="1182842" cy="11828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TextBox 78"/>
          <p:cNvSpPr txBox="1"/>
          <p:nvPr/>
        </p:nvSpPr>
        <p:spPr>
          <a:xfrm>
            <a:off x="977041" y="4938384"/>
            <a:ext cx="2155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온도의 하락</a:t>
            </a:r>
            <a:endParaRPr lang="en-US" altLang="ko-KR" sz="24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</a:t>
            </a:r>
          </a:p>
          <a:p>
            <a:r>
              <a:rPr lang="en-US" altLang="ko-KR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-&gt;</a:t>
            </a:r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저항의 증가</a:t>
            </a:r>
            <a:endParaRPr lang="en-US" altLang="ko-KR" sz="24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034633" y="4843307"/>
            <a:ext cx="25474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온도의 상승</a:t>
            </a:r>
            <a:endParaRPr lang="en-US" altLang="ko-KR" sz="24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24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 -&gt; </a:t>
            </a:r>
            <a:r>
              <a:rPr lang="ko-KR" altLang="en-US" sz="24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저항의 감소</a:t>
            </a:r>
            <a:endParaRPr lang="ko-KR" altLang="en-US" sz="24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grpSp>
        <p:nvGrpSpPr>
          <p:cNvPr id="81" name="그룹 80"/>
          <p:cNvGrpSpPr/>
          <p:nvPr/>
        </p:nvGrpSpPr>
        <p:grpSpPr>
          <a:xfrm>
            <a:off x="3641589" y="1807771"/>
            <a:ext cx="4286250" cy="3787208"/>
            <a:chOff x="730477" y="1577317"/>
            <a:chExt cx="4286250" cy="3787208"/>
          </a:xfrm>
        </p:grpSpPr>
        <p:grpSp>
          <p:nvGrpSpPr>
            <p:cNvPr id="82" name="그룹 81"/>
            <p:cNvGrpSpPr/>
            <p:nvPr/>
          </p:nvGrpSpPr>
          <p:grpSpPr>
            <a:xfrm>
              <a:off x="730477" y="1577317"/>
              <a:ext cx="4286250" cy="3476626"/>
              <a:chOff x="1681339" y="2047020"/>
              <a:chExt cx="4286250" cy="3476626"/>
            </a:xfrm>
          </p:grpSpPr>
          <p:pic>
            <p:nvPicPr>
              <p:cNvPr id="84" name="Picture 2" descr="DHT11-DDHT22-Working-Principle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26027" b="100000" l="10000" r="71556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81339" y="2047020"/>
                <a:ext cx="4286250" cy="34766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85" name="직선 화살표 연결선 84"/>
              <p:cNvCxnSpPr/>
              <p:nvPr/>
            </p:nvCxnSpPr>
            <p:spPr>
              <a:xfrm flipH="1" flipV="1">
                <a:off x="4147501" y="4472559"/>
                <a:ext cx="672924" cy="502145"/>
              </a:xfrm>
              <a:prstGeom prst="straightConnector1">
                <a:avLst/>
              </a:prstGeom>
              <a:ln w="57150">
                <a:solidFill>
                  <a:srgbClr val="FF7D7D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직선 화살표 연결선 85"/>
              <p:cNvCxnSpPr/>
              <p:nvPr/>
            </p:nvCxnSpPr>
            <p:spPr>
              <a:xfrm flipV="1">
                <a:off x="2763297" y="3811145"/>
                <a:ext cx="737688" cy="92445"/>
              </a:xfrm>
              <a:prstGeom prst="straightConnector1">
                <a:avLst/>
              </a:prstGeom>
              <a:ln w="57150">
                <a:solidFill>
                  <a:srgbClr val="FF7D7D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7" name="TextBox 86"/>
              <p:cNvSpPr txBox="1"/>
              <p:nvPr/>
            </p:nvSpPr>
            <p:spPr>
              <a:xfrm>
                <a:off x="1770718" y="3718924"/>
                <a:ext cx="992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smtClean="0">
                    <a:solidFill>
                      <a:srgbClr val="FF7D7D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습도 감지</a:t>
                </a:r>
                <a:endParaRPr lang="ko-KR" altLang="en-US" dirty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4337486" y="5035134"/>
                <a:ext cx="9877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smtClean="0">
                    <a:solidFill>
                      <a:srgbClr val="FF7D7D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온도 감지</a:t>
                </a:r>
                <a:endParaRPr lang="ko-KR" altLang="en-US" dirty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1971603" y="4995193"/>
              <a:ext cx="1443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▲</a:t>
              </a:r>
              <a:r>
                <a:rPr lang="en-US" altLang="ko-KR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DHT11 </a:t>
              </a:r>
              <a:r>
                <a:rPr lang="ko-KR" altLang="en-US" dirty="0" smtClean="0">
                  <a:solidFill>
                    <a:srgbClr val="FF7D7D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내부</a:t>
              </a:r>
              <a:endParaRPr lang="ko-KR" altLang="en-US" dirty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</p:grpSp>
      <p:pic>
        <p:nvPicPr>
          <p:cNvPr id="1030" name="Picture 6" descr="UNDERLINE PNG에 대한 이미지 검색결과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398610">
            <a:off x="6014745" y="4727538"/>
            <a:ext cx="1531860" cy="53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38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76" grpId="0" animBg="1"/>
      <p:bldP spid="77" grpId="0" animBg="1"/>
      <p:bldP spid="79" grpId="0"/>
      <p:bldP spid="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 </a:t>
            </a:r>
            <a:r>
              <a:rPr lang="ko-KR" altLang="en-US" sz="4500" dirty="0" err="1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파헤쳐보기</a:t>
            </a:r>
            <a:endParaRPr lang="ko-KR" altLang="en-US" sz="45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센서를 사용해보자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 - CDS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538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624" y="1711975"/>
            <a:ext cx="4457700" cy="3752850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47" y="2386253"/>
            <a:ext cx="5801863" cy="26519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3583" y="5038243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▲회로 구성</a:t>
            </a:r>
            <a:endParaRPr lang="ko-KR" altLang="en-US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938777" y="5464825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▲예시 소스</a:t>
            </a:r>
            <a:endParaRPr lang="ko-KR" altLang="en-US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921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 </a:t>
            </a:r>
            <a:r>
              <a:rPr lang="ko-KR" altLang="en-US" sz="4500" dirty="0" err="1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파헤쳐보기</a:t>
            </a:r>
            <a:endParaRPr lang="ko-KR" altLang="en-US" sz="45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센서를 사용해보자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 – DHT11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538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37910" y="6198493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▲회로 구성</a:t>
            </a:r>
            <a:endParaRPr lang="ko-KR" altLang="en-US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20509" y="6198493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▲예시 소스</a:t>
            </a:r>
            <a:endParaRPr lang="ko-KR" altLang="en-US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29"/>
          <a:stretch/>
        </p:blipFill>
        <p:spPr>
          <a:xfrm>
            <a:off x="1544090" y="1543302"/>
            <a:ext cx="3085022" cy="45723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rcRect r="21887"/>
          <a:stretch/>
        </p:blipFill>
        <p:spPr>
          <a:xfrm>
            <a:off x="6011509" y="1077816"/>
            <a:ext cx="4732334" cy="50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6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LCD?</a:t>
            </a:r>
            <a:endParaRPr lang="ko-KR" altLang="en-US" sz="45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액정과 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538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http://koc.chunjae.co.kr/upload/418/C-E-D3Y-F0-0402-00007-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70" y="1757439"/>
            <a:ext cx="4995410" cy="3785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lcd 패널 원리에 대한 이미지 검색결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489" y="1754349"/>
            <a:ext cx="5246962" cy="3788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694335" y="5578787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▲액정의 구성</a:t>
            </a:r>
            <a:endParaRPr lang="ko-KR" altLang="en-US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1489" y="5578787"/>
            <a:ext cx="3813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▲</a:t>
            </a:r>
            <a:r>
              <a:rPr lang="en-US" altLang="ko-KR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(Liquid Crystal Display) </a:t>
            </a:r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구성</a:t>
            </a:r>
            <a:endParaRPr lang="ko-KR" altLang="en-US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149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LCD?</a:t>
            </a:r>
            <a:endParaRPr lang="ko-KR" altLang="en-US" sz="4500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써보기 전에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…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538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4974774" y="2119189"/>
            <a:ext cx="6876354" cy="4566241"/>
          </a:xfrm>
          <a:prstGeom prst="rect">
            <a:avLst/>
          </a:prstGeom>
        </p:spPr>
        <p:txBody>
          <a:bodyPr wrap="square" lIns="108000" bIns="72000">
            <a:spAutoFit/>
          </a:bodyPr>
          <a:lstStyle/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lcd.begin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사용을 시작</a:t>
            </a:r>
          </a:p>
          <a:p>
            <a:r>
              <a:rPr lang="en-US" altLang="ko-KR" sz="1700" dirty="0" err="1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lcd.display</a:t>
            </a:r>
            <a:r>
              <a:rPr lang="en-US" altLang="ko-KR" sz="1700" dirty="0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 내용을 표시</a:t>
            </a:r>
          </a:p>
          <a:p>
            <a:r>
              <a:rPr lang="en-US" altLang="ko-KR" sz="1700" dirty="0" err="1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lcd.noDisplay</a:t>
            </a:r>
            <a:r>
              <a:rPr lang="en-US" altLang="ko-KR" sz="1700" dirty="0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 내용을 숨김</a:t>
            </a:r>
          </a:p>
          <a:p>
            <a:r>
              <a:rPr lang="en-US" altLang="ko-KR" sz="1700" dirty="0" err="1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lcd.setCursor</a:t>
            </a:r>
            <a:r>
              <a:rPr lang="en-US" altLang="ko-KR" sz="1700" dirty="0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en-US" altLang="ko-KR" sz="1700" dirty="0" err="1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col,row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row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col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좌표로 커서를 위치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lcd.cursor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 커서를 표시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lcd.noCursor</a:t>
            </a:r>
            <a:r>
              <a:rPr lang="en-US" altLang="ko-KR" sz="1700" dirty="0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 커서를 숨김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lcd.home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커서의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위치를 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0,0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으로 이동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lcd.blink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커서를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깜빡임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lcd.noBlink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커서를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깜빡이지 않음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lcd.backlight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backlight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을 킴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lcd.noBacklight</a:t>
            </a:r>
            <a:r>
              <a:rPr lang="en-US" altLang="ko-KR" sz="1700" dirty="0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backlight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끔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lcd.write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val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화면에 </a:t>
            </a:r>
            <a:r>
              <a:rPr lang="en-US" altLang="ko-KR" sz="1700" dirty="0" err="1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val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출력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아스키 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코드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</a:t>
            </a:r>
            <a:endParaRPr lang="en-US" altLang="ko-KR" sz="1700" dirty="0">
              <a:solidFill>
                <a:srgbClr val="FFC00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lcd.print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val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화면에 </a:t>
            </a:r>
            <a:r>
              <a:rPr lang="en-US" altLang="ko-KR" sz="1700" dirty="0" err="1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val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출력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lcd.clear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화면의 모든 내용 지움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lcd.scrollDisplayRight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내용을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우측으로 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칸 이동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lcd.scrollDisplayLeft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내용을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좌측으로 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칸 이동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lcd.autoscroll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내용을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자동으로 우에서 좌로 스크롤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376" y="1612271"/>
            <a:ext cx="3152775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1735" y="3034952"/>
            <a:ext cx="24096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</a:t>
            </a:r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라이브러리</a:t>
            </a:r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란</a:t>
            </a:r>
            <a:r>
              <a:rPr lang="en-US" altLang="ko-KR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</a:t>
            </a:r>
          </a:p>
          <a:p>
            <a:endParaRPr lang="en-US" altLang="ko-KR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소프트웨어 </a:t>
            </a:r>
            <a:r>
              <a:rPr lang="ko-KR" altLang="en-US" dirty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개발에 쓰이는 </a:t>
            </a:r>
            <a:endParaRPr lang="en-US" altLang="ko-KR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dirty="0" smtClean="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기능</a:t>
            </a:r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 </a:t>
            </a:r>
            <a:r>
              <a:rPr lang="ko-KR" altLang="en-US" dirty="0" err="1" smtClean="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구조</a:t>
            </a:r>
            <a:r>
              <a:rPr lang="ko-KR" altLang="en-US" dirty="0" err="1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등의</a:t>
            </a:r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dirty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모임</a:t>
            </a:r>
          </a:p>
        </p:txBody>
      </p:sp>
      <p:sp>
        <p:nvSpPr>
          <p:cNvPr id="45" name="TextBox 44"/>
          <p:cNvSpPr txBox="1"/>
          <p:nvPr/>
        </p:nvSpPr>
        <p:spPr>
          <a:xfrm rot="482168">
            <a:off x="3377470" y="1087338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라이브러리에 대해 알아봅시다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~!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62" b="94737" l="3111" r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712" y="2133184"/>
            <a:ext cx="405466" cy="325274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62" b="94737" l="3111" r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622" y="4723776"/>
            <a:ext cx="405466" cy="325274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62" b="94737" l="3111" r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272" y="5253688"/>
            <a:ext cx="405466" cy="32527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238438" y="1580005"/>
            <a:ext cx="17921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-&gt; LCD</a:t>
            </a:r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라이브러리</a:t>
            </a:r>
            <a:endParaRPr lang="en-US" altLang="ko-KR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695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45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ko-KR" altLang="en-US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사용해보기</a:t>
            </a:r>
            <a:endParaRPr lang="en-US" altLang="ko-KR" sz="45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정해진 글씨 출력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284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4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845" y="1219235"/>
            <a:ext cx="4274977" cy="470505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84" y="2125641"/>
            <a:ext cx="6066046" cy="27739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44063" y="493922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▲회로 구성</a:t>
            </a:r>
            <a:endParaRPr lang="ko-KR" altLang="en-US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81722" y="5977115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▲예제 소스</a:t>
            </a:r>
            <a:endParaRPr lang="ko-KR" altLang="en-US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143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ko-KR" altLang="en-US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사용해보기</a:t>
            </a:r>
            <a:endParaRPr lang="en-US" altLang="ko-KR" sz="45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원하는 글씨 출력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284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4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99" y="1497508"/>
            <a:ext cx="4274977" cy="470505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59776" y="625538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▲예제 소스</a:t>
            </a:r>
            <a:endParaRPr lang="ko-KR" altLang="en-US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974774" y="1680354"/>
            <a:ext cx="6876354" cy="4566241"/>
          </a:xfrm>
          <a:prstGeom prst="rect">
            <a:avLst/>
          </a:prstGeom>
        </p:spPr>
        <p:txBody>
          <a:bodyPr wrap="square" lIns="108000" bIns="72000">
            <a:spAutoFit/>
          </a:bodyPr>
          <a:lstStyle/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lcd.begin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사용을 시작</a:t>
            </a:r>
          </a:p>
          <a:p>
            <a:r>
              <a:rPr lang="en-US" altLang="ko-KR" sz="1700" dirty="0" err="1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lcd.display</a:t>
            </a:r>
            <a:r>
              <a:rPr lang="en-US" altLang="ko-KR" sz="1700" dirty="0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 내용을 표시</a:t>
            </a:r>
          </a:p>
          <a:p>
            <a:r>
              <a:rPr lang="en-US" altLang="ko-KR" sz="1700" dirty="0" err="1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lcd.noDisplay</a:t>
            </a:r>
            <a:r>
              <a:rPr lang="en-US" altLang="ko-KR" sz="1700" dirty="0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 내용을 숨김</a:t>
            </a:r>
          </a:p>
          <a:p>
            <a:r>
              <a:rPr lang="en-US" altLang="ko-KR" sz="1700" dirty="0" err="1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lcd.setCursor</a:t>
            </a:r>
            <a:r>
              <a:rPr lang="en-US" altLang="ko-KR" sz="1700" dirty="0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en-US" altLang="ko-KR" sz="1700" dirty="0" err="1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col,row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row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col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좌표로 커서를 위치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lcd.cursor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 커서를 표시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lcd.noCursor</a:t>
            </a:r>
            <a:r>
              <a:rPr lang="en-US" altLang="ko-KR" sz="1700" dirty="0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 커서를 숨김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lcd.home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커서의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위치를 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0,0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으로 이동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lcd.blink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커서를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깜빡임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lcd.noBlink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커서를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깜빡이지 않음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lcd.backlight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backlight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을 킴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lcd.noBacklight</a:t>
            </a:r>
            <a:r>
              <a:rPr lang="en-US" altLang="ko-KR" sz="1700" dirty="0" smtClean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backlight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끔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lcd.write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val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화면에 </a:t>
            </a:r>
            <a:r>
              <a:rPr lang="en-US" altLang="ko-KR" sz="1700" dirty="0" err="1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val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출력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아스키 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코드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</a:t>
            </a:r>
            <a:endParaRPr lang="en-US" altLang="ko-KR" sz="1700" dirty="0">
              <a:solidFill>
                <a:srgbClr val="FFC00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lcd.print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val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화면에 </a:t>
            </a:r>
            <a:r>
              <a:rPr lang="en-US" altLang="ko-KR" sz="1700" dirty="0" err="1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val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출력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lcd.clear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en-US" altLang="ko-KR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화면의 모든 내용 지움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lcd.scrollDisplayRight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내용을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우측으로 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칸 이동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lcd.scrollDisplayLeft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내용을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좌측으로 </a:t>
            </a:r>
            <a:r>
              <a:rPr lang="en-US" altLang="ko-KR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칸 이동</a:t>
            </a:r>
          </a:p>
          <a:p>
            <a:r>
              <a:rPr lang="en-US" altLang="ko-KR" sz="1700" dirty="0" err="1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lcd.autoscroll</a:t>
            </a:r>
            <a:r>
              <a:rPr lang="en-US" altLang="ko-KR" sz="1700" dirty="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();</a:t>
            </a:r>
            <a:r>
              <a:rPr lang="en-US" altLang="ko-KR" sz="17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</a:t>
            </a:r>
            <a:r>
              <a:rPr lang="en-US" altLang="ko-KR" sz="17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		</a:t>
            </a:r>
            <a:r>
              <a:rPr lang="ko-KR" altLang="en-US" sz="1700" dirty="0" smtClean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내용을 </a:t>
            </a:r>
            <a:r>
              <a:rPr lang="ko-KR" altLang="en-US" sz="1700" dirty="0">
                <a:solidFill>
                  <a:srgbClr val="FFC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자동으로 우에서 좌로 스크롤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5609" y="6255388"/>
            <a:ext cx="19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▲다시 보여드립니다</a:t>
            </a:r>
            <a:r>
              <a:rPr lang="en-US" altLang="ko-KR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  <a:endParaRPr lang="ko-KR" altLang="en-US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084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18555" y="224676"/>
            <a:ext cx="4982934" cy="784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LCD </a:t>
            </a:r>
            <a:r>
              <a:rPr lang="ko-KR" altLang="en-US" sz="4500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사용해보기</a:t>
            </a:r>
            <a:endParaRPr lang="en-US" altLang="ko-KR" sz="4500" dirty="0" smtClean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6203" y="931707"/>
            <a:ext cx="34936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센서도 같이 써볼까</a:t>
            </a:r>
            <a:r>
              <a:rPr lang="en-US" altLang="ko-KR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2504" y="294481"/>
            <a:ext cx="959231" cy="959231"/>
          </a:xfrm>
          <a:prstGeom prst="rect">
            <a:avLst/>
          </a:prstGeom>
          <a:solidFill>
            <a:srgbClr val="FF7D7D"/>
          </a:solidFill>
          <a:ln>
            <a:noFill/>
          </a:ln>
          <a:effectLst>
            <a:outerShdw blurRad="1016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81155" y="320396"/>
            <a:ext cx="898839" cy="898839"/>
          </a:xfrm>
          <a:prstGeom prst="rect">
            <a:avLst/>
          </a:prstGeom>
          <a:noFill/>
          <a:ln w="539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28470" y="320396"/>
            <a:ext cx="40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4</a:t>
            </a:r>
            <a:endParaRPr lang="ko-KR" altLang="en-US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21603" y="888196"/>
            <a:ext cx="49052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b="36799"/>
          <a:stretch/>
        </p:blipFill>
        <p:spPr>
          <a:xfrm>
            <a:off x="1015499" y="2135169"/>
            <a:ext cx="4720445" cy="319470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33515" y="5368917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7D7D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▲예제 소스</a:t>
            </a:r>
            <a:endParaRPr lang="ko-KR" altLang="en-US" dirty="0">
              <a:solidFill>
                <a:srgbClr val="FF7D7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785" y="1116373"/>
            <a:ext cx="5514975" cy="527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2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5325257" y="4929882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7979486" y="3059221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6088785" y="459135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8829478" y="408788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963119" y="3588400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7474246" y="5709654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16839" y="2262896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246440" y="512389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10151144" y="5663571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-327545" y="5123891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11001136" y="850096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391560" y="136468"/>
            <a:ext cx="849992" cy="904254"/>
          </a:xfrm>
          <a:prstGeom prst="line">
            <a:avLst/>
          </a:prstGeom>
          <a:ln>
            <a:solidFill>
              <a:srgbClr val="3EE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2950726" y="6706524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H="1">
            <a:off x="2634682" y="2607094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12055762" y="3451463"/>
            <a:ext cx="849992" cy="904254"/>
          </a:xfrm>
          <a:prstGeom prst="line">
            <a:avLst/>
          </a:prstGeom>
          <a:ln>
            <a:solidFill>
              <a:srgbClr val="DF65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5307084" y="2828267"/>
            <a:ext cx="849992" cy="904254"/>
          </a:xfrm>
          <a:prstGeom prst="line">
            <a:avLst/>
          </a:prstGeom>
          <a:ln>
            <a:solidFill>
              <a:srgbClr val="5DE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694335" y="230551"/>
            <a:ext cx="849992" cy="904254"/>
          </a:xfrm>
          <a:prstGeom prst="line">
            <a:avLst/>
          </a:prstGeom>
          <a:ln>
            <a:solidFill>
              <a:srgbClr val="D5C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671436" y="1908148"/>
            <a:ext cx="7366038" cy="2554545"/>
          </a:xfrm>
          <a:prstGeom prst="rect">
            <a:avLst/>
          </a:prstGeom>
          <a:noFill/>
          <a:effectLst>
            <a:outerShdw blurRad="76200" dist="50800" dir="3240000" algn="tl" rotWithShape="0">
              <a:prstClr val="black">
                <a:alpha val="44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0" kern="2900" spc="600" dirty="0">
                <a:ln w="38100">
                  <a:noFill/>
                </a:ln>
                <a:solidFill>
                  <a:srgbClr val="FF7D7D"/>
                </a:solidFill>
                <a:effectLst>
                  <a:outerShdw blurRad="25400" dist="38100" dir="120000" algn="ctr" rotWithShape="0">
                    <a:schemeClr val="bg1"/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Thanks</a:t>
            </a:r>
            <a:endParaRPr lang="ko-KR" altLang="en-US" sz="16000" kern="2900" spc="600" dirty="0">
              <a:ln w="38100">
                <a:noFill/>
              </a:ln>
              <a:solidFill>
                <a:srgbClr val="FF7D7D"/>
              </a:solidFill>
              <a:effectLst>
                <a:outerShdw blurRad="25400" dist="38100" dir="120000" algn="ctr" rotWithShape="0">
                  <a:schemeClr val="bg1"/>
                </a:outerShdw>
              </a:effectLst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428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307</Words>
  <Application>Microsoft Office PowerPoint</Application>
  <PresentationFormat>와이드스크린</PresentationFormat>
  <Paragraphs>167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Aram Lim</dc:creator>
  <cp:lastModifiedBy>Windows 사용자</cp:lastModifiedBy>
  <cp:revision>117</cp:revision>
  <dcterms:created xsi:type="dcterms:W3CDTF">2017-09-10T11:50:49Z</dcterms:created>
  <dcterms:modified xsi:type="dcterms:W3CDTF">2018-01-10T15:48:31Z</dcterms:modified>
</cp:coreProperties>
</file>